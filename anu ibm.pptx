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90" r:id="rId2"/>
    <p:sldId id="291" r:id="rId3"/>
    <p:sldId id="292" r:id="rId4"/>
    <p:sldId id="293" r:id="rId5"/>
    <p:sldId id="294" r:id="rId6"/>
    <p:sldId id="299" r:id="rId7"/>
    <p:sldId id="301" r:id="rId8"/>
    <p:sldId id="302" r:id="rId9"/>
    <p:sldId id="303" r:id="rId10"/>
    <p:sldId id="304" r:id="rId11"/>
    <p:sldId id="305" r:id="rId12"/>
    <p:sldId id="306" r:id="rId13"/>
    <p:sldId id="307" r:id="rId14"/>
    <p:sldId id="308" r:id="rId15"/>
    <p:sldId id="309"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2121247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1800" dirty="0"/>
                        <a:t>     Anu Rai</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   anu32712@gmail.com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         9109811417</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46892" y="466107"/>
            <a:ext cx="10082620" cy="830997"/>
          </a:xfrm>
          <a:prstGeom prst="rect">
            <a:avLst/>
          </a:prstGeom>
          <a:noFill/>
        </p:spPr>
        <p:txBody>
          <a:bodyPr wrap="square" rtlCol="0">
            <a:spAutoFit/>
          </a:bodyPr>
          <a:lstStyle/>
          <a:p>
            <a:r>
              <a:rPr lang="en-US" sz="2400" b="1" dirty="0"/>
              <a:t>Project Tile – </a:t>
            </a:r>
            <a:r>
              <a:rPr lang="en-US" sz="2400" b="1" dirty="0">
                <a:highlight>
                  <a:srgbClr val="FFFF00"/>
                </a:highlight>
              </a:rPr>
              <a:t>[Agentic AI for Mental Health Awareness &amp; Suicide prevention]</a:t>
            </a:r>
            <a:endParaRPr lang="en-IN" sz="2400" b="1" dirty="0">
              <a:highlight>
                <a:srgbClr val="FFFF00"/>
              </a:highlight>
            </a:endParaRPr>
          </a:p>
        </p:txBody>
      </p:sp>
      <p:pic>
        <p:nvPicPr>
          <p:cNvPr id="5" name="Picture 4">
            <a:extLst>
              <a:ext uri="{FF2B5EF4-FFF2-40B4-BE49-F238E27FC236}">
                <a16:creationId xmlns:a16="http://schemas.microsoft.com/office/drawing/2014/main" id="{CA5EFD4C-5C88-9F56-CEC9-34704ACA3981}"/>
              </a:ext>
            </a:extLst>
          </p:cNvPr>
          <p:cNvPicPr>
            <a:picLocks noChangeAspect="1"/>
          </p:cNvPicPr>
          <p:nvPr/>
        </p:nvPicPr>
        <p:blipFill>
          <a:blip r:embed="rId3"/>
          <a:stretch>
            <a:fillRect/>
          </a:stretch>
        </p:blipFill>
        <p:spPr>
          <a:xfrm>
            <a:off x="3812633" y="3647767"/>
            <a:ext cx="1002891" cy="97683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352427"/>
            <a:ext cx="10607040" cy="5509200"/>
          </a:xfrm>
          <a:prstGeom prst="rect">
            <a:avLst/>
          </a:prstGeom>
          <a:noFill/>
        </p:spPr>
        <p:txBody>
          <a:bodyPr wrap="square" rtlCol="0">
            <a:spAutoFit/>
          </a:bodyPr>
          <a:lstStyle/>
          <a:p>
            <a:r>
              <a:rPr lang="en-IN" sz="1800" b="1" dirty="0"/>
              <a:t>Problem Statement : Agentic AI for Mental Health Awareness &amp; Suicide Prevention</a:t>
            </a:r>
            <a:endParaRPr lang="en-IN" sz="1800" dirty="0"/>
          </a:p>
          <a:p>
            <a:r>
              <a:rPr lang="en-IN" sz="1800" b="1" dirty="0"/>
              <a:t>The Challenge</a:t>
            </a:r>
            <a:endParaRPr lang="en-IN" sz="1800" dirty="0"/>
          </a:p>
          <a:p>
            <a:r>
              <a:rPr lang="en-IN" sz="18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r>
              <a:rPr lang="en-IN" sz="1800" b="1" dirty="0"/>
              <a:t>The Objective</a:t>
            </a:r>
            <a:endParaRPr lang="en-IN" sz="1800" dirty="0"/>
          </a:p>
          <a:p>
            <a:r>
              <a:rPr lang="en-IN" sz="1800" dirty="0"/>
              <a:t>Build an Agentic AI-powered Mental Health Awareness &amp; Suicide Prevention Agent that is empathetic, proactive, and safe. The solution should:</a:t>
            </a:r>
          </a:p>
          <a:p>
            <a:pPr lvl="0"/>
            <a:r>
              <a:rPr lang="en-IN" sz="1800" b="1" dirty="0"/>
              <a:t>Promote Awareness &amp; Education </a:t>
            </a:r>
            <a:r>
              <a:rPr lang="en-IN" sz="1800" dirty="0"/>
              <a:t>– Share accessible resources on mindfulness, coping strategies, and self-care.</a:t>
            </a:r>
          </a:p>
          <a:p>
            <a:pPr lvl="0"/>
            <a:r>
              <a:rPr lang="en-IN" sz="1800" b="1" dirty="0"/>
              <a:t>Enable Early Detection (RAG) </a:t>
            </a:r>
            <a:r>
              <a:rPr lang="en-IN" sz="1800" dirty="0"/>
              <a:t>– Use Retrieval-Augmented Generation to identify distress signals in conversations, journaling inputs, or safe online data.</a:t>
            </a:r>
          </a:p>
          <a:p>
            <a:pPr lvl="0"/>
            <a:r>
              <a:rPr lang="en-IN" sz="1800" b="1" dirty="0"/>
              <a:t>Provide Empathetic Support – </a:t>
            </a:r>
            <a:r>
              <a:rPr lang="en-IN" sz="1800" dirty="0"/>
              <a:t>Build a conversational agent that listens actively and responds with empathy (with clear disclaimers: not a substitute for professional medical advice).</a:t>
            </a:r>
          </a:p>
          <a:p>
            <a:pPr lvl="0"/>
            <a:r>
              <a:rPr lang="en-IN" sz="1800" b="1" dirty="0"/>
              <a:t>Predict &amp; Prevent Risks – </a:t>
            </a:r>
            <a:r>
              <a:rPr lang="en-IN" sz="1800" dirty="0"/>
              <a:t>Forecast stress peaks, suggest preventive strategies, and issue alerts when high-risk signals are detected (with consent).</a:t>
            </a:r>
          </a:p>
          <a:p>
            <a:pPr lvl="0"/>
            <a:r>
              <a:rPr lang="en-IN" sz="1800" b="1" dirty="0"/>
              <a:t>Connect to Human Support – </a:t>
            </a:r>
            <a:r>
              <a:rPr lang="en-IN" sz="1800" dirty="0"/>
              <a:t>Link users to helplines, </a:t>
            </a:r>
            <a:r>
              <a:rPr lang="en-IN" sz="1800" dirty="0" err="1"/>
              <a:t>counselors</a:t>
            </a:r>
            <a:r>
              <a:rPr lang="en-IN" sz="1800" dirty="0"/>
              <a:t>, or community support for timely intervention.</a:t>
            </a:r>
          </a:p>
          <a:p>
            <a:endParaRPr lang="en-IN"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6463308"/>
          </a:xfrm>
          <a:prstGeom prst="rect">
            <a:avLst/>
          </a:prstGeom>
          <a:noFill/>
        </p:spPr>
        <p:txBody>
          <a:bodyPr wrap="square" rtlCol="0">
            <a:spAutoFit/>
          </a:bodyPr>
          <a:lstStyle/>
          <a:p>
            <a:pPr fontAlgn="base"/>
            <a:endParaRPr lang="en-US" b="1" dirty="0"/>
          </a:p>
          <a:p>
            <a:r>
              <a:rPr lang="en-US" dirty="0"/>
              <a:t> </a:t>
            </a:r>
            <a:r>
              <a:rPr lang="en-US" sz="1800" b="1" dirty="0"/>
              <a:t>Proposed Solution-</a:t>
            </a:r>
            <a:r>
              <a:rPr lang="en-US" b="1" dirty="0"/>
              <a:t> </a:t>
            </a:r>
            <a:r>
              <a:rPr lang="en-US" sz="1800" b="1" dirty="0"/>
              <a:t>AI-Powered Mental Health Awareness &amp; Suicide Prevention Agent </a:t>
            </a:r>
          </a:p>
          <a:p>
            <a:endParaRPr lang="en-US" sz="1800" b="1" dirty="0"/>
          </a:p>
          <a:p>
            <a:r>
              <a:rPr lang="en-US" dirty="0"/>
              <a:t>The proposed solution is a multi-agent AI-powered mental health system designed to promote mental health awareness, provide empathetic support, detect early signs of emotional distress, and connect users with appropriate human help. The system focuses on providing safe, accessible, and proactive support while clearly stating that AI is not a replacement for professional medical care.</a:t>
            </a:r>
          </a:p>
          <a:p>
            <a:endParaRPr lang="en-US" dirty="0"/>
          </a:p>
          <a:p>
            <a:r>
              <a:rPr lang="en-US" dirty="0"/>
              <a:t>At its core, the solution uses a Retrieval-Augmented Generation (RAG) pipeline to retrieve reliable mental health information from trusted sources such as WHO, government health resources, and verified mental health organizations. This enables the system to provide accurate information about stress, anxiety, depression, mindfulness, coping strategies, and suicide prevention.</a:t>
            </a:r>
          </a:p>
          <a:p>
            <a:endParaRPr lang="en-US" dirty="0"/>
          </a:p>
          <a:p>
            <a:r>
              <a:rPr lang="en-US" dirty="0"/>
              <a:t>The system consists of four key agents: </a:t>
            </a:r>
          </a:p>
          <a:p>
            <a:pPr marL="285750" indent="-285750">
              <a:buFont typeface="Arial" panose="020B0604020202020204" pitchFamily="34" charset="0"/>
              <a:buChar char="•"/>
            </a:pPr>
            <a:r>
              <a:rPr lang="en-US" dirty="0"/>
              <a:t>Mental Health Awareness Agent provides users with easy-to-understand information about mental health conditions, symptoms, self-care, mindfulness, stress management, and available support resources.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Emotional Support Agent acts as an empathetic conversational assistant that listens to users, understands their concerns, and provides supportive and non-judgmental responses with appropriate safety disclaimers.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Risk Detection &amp; Prevention Agent analyzes consented conversations or journal entries to identify possible signs of severe emotional distress or suicide risk. Based on the detected level of concern, it provides appropriate safety-oriented guidance and encourages the user to seek professional or emergency help when necessary.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Human Support &amp; Helpline Agent connects users with counselors, mental health professionals, helplines, emergency services, and trusted community resources, ensuring that high-risk situations are directed toward human intervention.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watsonx.ai can be used for AI model deployment, embeddings, governance, and orchestration, while IBM Granite models can support language understanding, summarization, and response generation. IBM Bob can be used to coordinate the different AI agents and workflows.</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62209" y="77277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93757"/>
          </a:xfrm>
          <a:prstGeom prst="rect">
            <a:avLst/>
          </a:prstGeom>
          <a:noFill/>
        </p:spPr>
        <p:txBody>
          <a:bodyPr wrap="square" rtlCol="0">
            <a:spAutoFit/>
          </a:bodyPr>
          <a:lstStyle/>
          <a:p>
            <a:pPr marL="285750" indent="-285750">
              <a:buFont typeface="Arial" panose="020B0604020202020204" pitchFamily="34" charset="0"/>
              <a:buChar char="•"/>
            </a:pPr>
            <a:r>
              <a:rPr lang="en-US" sz="1800" dirty="0"/>
              <a:t>IBM Bob Platform – For designing and orchestrating multi-agent mental health workflows.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Granite Models – For natural language understanding, reasoning, and empathetic response generation.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 – For AI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(Retrieval-Augmented Generation) – For retrieving reliable mental health information from trusted sources and generating accurate responses.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Vector Database (FAISS/Chroma) – For storing and retrieving mental health resources using RAG.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Streamlit</a:t>
            </a:r>
            <a:r>
              <a:rPr lang="en-US" sz="1800" dirty="0"/>
              <a:t> / React – For developing a user-friendly dashboard for chatbot, mood/journal tracking, awareness resources, and support options.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Helpline &amp; Emergency Resources – For connecting users with counselors, mental-health professionals, helplines, and emergency support when high-risk signals are detected</a:t>
            </a:r>
          </a:p>
          <a:p>
            <a:endParaRPr lang="en-US" sz="1800"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Mental health Awareness and suicide prevention</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a:t>
            </a:r>
            <a:r>
              <a:rPr lang="en-US"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8CD8843-10EE-F9E8-95EF-933207D47655}"/>
              </a:ext>
            </a:extLst>
          </p:cNvPr>
          <p:cNvPicPr>
            <a:picLocks noChangeAspect="1"/>
          </p:cNvPicPr>
          <p:nvPr/>
        </p:nvPicPr>
        <p:blipFill>
          <a:blip r:embed="rId4"/>
          <a:stretch>
            <a:fillRect/>
          </a:stretch>
        </p:blipFill>
        <p:spPr>
          <a:xfrm>
            <a:off x="737420" y="1150373"/>
            <a:ext cx="10618838" cy="539135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52C9952-F8C9-57C4-C143-F3322A7EFD99}"/>
              </a:ext>
            </a:extLst>
          </p:cNvPr>
          <p:cNvPicPr>
            <a:picLocks noChangeAspect="1"/>
          </p:cNvPicPr>
          <p:nvPr/>
        </p:nvPicPr>
        <p:blipFill>
          <a:blip r:embed="rId4"/>
          <a:stretch>
            <a:fillRect/>
          </a:stretch>
        </p:blipFill>
        <p:spPr>
          <a:xfrm>
            <a:off x="561749" y="1060711"/>
            <a:ext cx="11139948" cy="517605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7" name="Picture 6">
            <a:extLst>
              <a:ext uri="{FF2B5EF4-FFF2-40B4-BE49-F238E27FC236}">
                <a16:creationId xmlns:a16="http://schemas.microsoft.com/office/drawing/2014/main" id="{84F5164F-9F4C-C852-0FFD-44253E3DB401}"/>
              </a:ext>
            </a:extLst>
          </p:cNvPr>
          <p:cNvPicPr>
            <a:picLocks noChangeAspect="1"/>
          </p:cNvPicPr>
          <p:nvPr/>
        </p:nvPicPr>
        <p:blipFill>
          <a:blip r:embed="rId4"/>
          <a:stretch>
            <a:fillRect/>
          </a:stretch>
        </p:blipFill>
        <p:spPr>
          <a:xfrm>
            <a:off x="655255" y="800029"/>
            <a:ext cx="10583015" cy="577348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5" name="TextBox 4">
            <a:extLst>
              <a:ext uri="{FF2B5EF4-FFF2-40B4-BE49-F238E27FC236}">
                <a16:creationId xmlns:a16="http://schemas.microsoft.com/office/drawing/2014/main" id="{AAAE8348-0ACA-0D07-7B6E-A57ADD77D778}"/>
              </a:ext>
            </a:extLst>
          </p:cNvPr>
          <p:cNvSpPr txBox="1"/>
          <p:nvPr/>
        </p:nvSpPr>
        <p:spPr>
          <a:xfrm>
            <a:off x="530942" y="1015412"/>
            <a:ext cx="8613058" cy="5693866"/>
          </a:xfrm>
          <a:prstGeom prst="rect">
            <a:avLst/>
          </a:prstGeom>
          <a:noFill/>
        </p:spPr>
        <p:txBody>
          <a:bodyPr wrap="square">
            <a:spAutoFit/>
          </a:bodyPr>
          <a:lstStyle/>
          <a:p>
            <a:r>
              <a:rPr lang="en-US" dirty="0"/>
              <a:t>The proposed Mental Health Awareness &amp; Suicide Prevention Agent stands out by combining Agentic AI, RAG, early risk detection, and personalized support into a single intelligent system.</a:t>
            </a:r>
          </a:p>
          <a:p>
            <a:endParaRPr lang="en-US" dirty="0"/>
          </a:p>
          <a:p>
            <a:pPr marL="285750" indent="-285750">
              <a:buFont typeface="Arial" panose="020B0604020202020204" pitchFamily="34" charset="0"/>
              <a:buChar char="•"/>
            </a:pPr>
            <a:r>
              <a:rPr lang="en-US" dirty="0"/>
              <a:t>Multi-Agent Intelligence – Multiple specialized agents collaborate to provide awareness, emotional support, risk detection, and human-support services.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RAG-Based Accuracy – Retrieves information from trusted mental-health sources before generating responses, helping reduce misinformation.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Early Risk Detection – Identifies potential signs of severe emotional distress or suicidal thoughts from consented conversations or journal inputs.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Personalized Support – Provides suitable coping strategies, mindfulness activities, and self-care suggestions based on the user's needs.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Proactive Prevention – Goes beyond responding to users by encouraging healthy coping practices and early intervention when warning signs appear.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Human Support Connection – Connects high-risk users with helplines, counselors, mental-health professionals, or emergency services.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Safe &amp; Responsible AI – Uses clear disclaimers, consent-based monitoring, privacy considerations, and human intervention instead of replacing professional care.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IBM-Powered &amp; Scalable – Uses IBM Bob, IBM Granite models, and IBM watsonx.ai for multi-agent orchestration, AI responses, deployment, and governance.</a:t>
            </a:r>
            <a:endParaRPr lang="en-IN" dirty="0"/>
          </a:p>
        </p:txBody>
      </p:sp>
    </p:spTree>
    <p:extLst>
      <p:ext uri="{BB962C8B-B14F-4D97-AF65-F5344CB8AC3E}">
        <p14:creationId xmlns:p14="http://schemas.microsoft.com/office/powerpoint/2010/main" val="232528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0EA5E6A-BB58-D522-7FAF-2FDF688FEA58}"/>
              </a:ext>
            </a:extLst>
          </p:cNvPr>
          <p:cNvSpPr txBox="1"/>
          <p:nvPr/>
        </p:nvSpPr>
        <p:spPr>
          <a:xfrm>
            <a:off x="1392972" y="1388711"/>
            <a:ext cx="6096000" cy="646331"/>
          </a:xfrm>
          <a:prstGeom prst="rect">
            <a:avLst/>
          </a:prstGeom>
          <a:noFill/>
        </p:spPr>
        <p:txBody>
          <a:bodyPr wrap="square">
            <a:spAutoFit/>
          </a:bodyPr>
          <a:lstStyle/>
          <a:p>
            <a:r>
              <a:rPr lang="en-IN" sz="1800" dirty="0"/>
              <a:t>https://github.com/AnuRaiCodes/Mindguard-Mental-Wellness</a:t>
            </a:r>
          </a:p>
        </p:txBody>
      </p:sp>
    </p:spTree>
    <p:extLst>
      <p:ext uri="{BB962C8B-B14F-4D97-AF65-F5344CB8AC3E}">
        <p14:creationId xmlns:p14="http://schemas.microsoft.com/office/powerpoint/2010/main" val="404041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1"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B76DF55-EB97-B85E-20E3-A30CB88D9335}"/>
              </a:ext>
            </a:extLst>
          </p:cNvPr>
          <p:cNvSpPr txBox="1"/>
          <p:nvPr/>
        </p:nvSpPr>
        <p:spPr>
          <a:xfrm>
            <a:off x="656303" y="1592917"/>
            <a:ext cx="8593394" cy="4185761"/>
          </a:xfrm>
          <a:prstGeom prst="rect">
            <a:avLst/>
          </a:prstGeom>
          <a:noFill/>
        </p:spPr>
        <p:txBody>
          <a:bodyPr wrap="square">
            <a:spAutoFit/>
          </a:bodyPr>
          <a:lstStyle/>
          <a:p>
            <a:r>
              <a:rPr lang="en-US" dirty="0"/>
              <a:t>1. Integration with Wearable Devices –</a:t>
            </a:r>
          </a:p>
          <a:p>
            <a:r>
              <a:rPr lang="en-US" dirty="0"/>
              <a:t>The system can connect with smartwatches and fitness trackers to monitor sleep, heart rate, and activity patterns, helping identify changes in mental well-being.</a:t>
            </a:r>
          </a:p>
          <a:p>
            <a:endParaRPr lang="en-US" dirty="0"/>
          </a:p>
          <a:p>
            <a:r>
              <a:rPr lang="en-US" dirty="0"/>
              <a:t>2. AI-Powered Voice &amp; Multilingual Support –</a:t>
            </a:r>
          </a:p>
          <a:p>
            <a:r>
              <a:rPr lang="en-US" dirty="0"/>
              <a:t>Voice interaction and multiple language support can make the system easier and more accessible for users from different backgrounds.</a:t>
            </a:r>
          </a:p>
          <a:p>
            <a:endParaRPr lang="en-US" dirty="0"/>
          </a:p>
          <a:p>
            <a:r>
              <a:rPr lang="en-US" dirty="0"/>
              <a:t>3. Advanced Early-Risk Detection –</a:t>
            </a:r>
          </a:p>
          <a:p>
            <a:r>
              <a:rPr lang="en-US" dirty="0"/>
              <a:t>Future versions can improve the detection of emotional distress and suicide-risk signals while maintaining user consent, privacy, and safety.</a:t>
            </a:r>
          </a:p>
          <a:p>
            <a:endParaRPr lang="en-US" dirty="0"/>
          </a:p>
          <a:p>
            <a:r>
              <a:rPr lang="en-US" dirty="0"/>
              <a:t>4. Personalized Mental Wellness Plans –</a:t>
            </a:r>
          </a:p>
          <a:p>
            <a:r>
              <a:rPr lang="en-US" dirty="0"/>
              <a:t>The system can provide personalized mindfulness, stress-management, and self-care plans based on the user's mood and interactions.</a:t>
            </a:r>
          </a:p>
          <a:p>
            <a:endParaRPr lang="en-US" dirty="0"/>
          </a:p>
          <a:p>
            <a:r>
              <a:rPr lang="en-US" dirty="0"/>
              <a:t>5. Real-Time Human Support –</a:t>
            </a:r>
          </a:p>
          <a:p>
            <a:r>
              <a:rPr lang="en-US" dirty="0"/>
              <a:t>The system can be further connected with counselors, helplines, and emergency services for faster intervention during high-risk situations.</a:t>
            </a:r>
            <a:endParaRPr lang="en-IN" dirty="0"/>
          </a:p>
        </p:txBody>
      </p:sp>
    </p:spTree>
    <p:extLst>
      <p:ext uri="{BB962C8B-B14F-4D97-AF65-F5344CB8AC3E}">
        <p14:creationId xmlns:p14="http://schemas.microsoft.com/office/powerpoint/2010/main" val="74002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descr="A screenshot of a computer&#10;&#10;AI-generated content may be incorrect.">
            <a:extLst>
              <a:ext uri="{FF2B5EF4-FFF2-40B4-BE49-F238E27FC236}">
                <a16:creationId xmlns:a16="http://schemas.microsoft.com/office/drawing/2014/main" id="{91BBBF4F-B89F-431E-C186-1607885D5E27}"/>
              </a:ext>
            </a:extLst>
          </p:cNvPr>
          <p:cNvPicPr>
            <a:picLocks noChangeAspect="1"/>
          </p:cNvPicPr>
          <p:nvPr/>
        </p:nvPicPr>
        <p:blipFill>
          <a:blip r:embed="rId3"/>
          <a:stretch>
            <a:fillRect/>
          </a:stretch>
        </p:blipFill>
        <p:spPr>
          <a:xfrm>
            <a:off x="986320" y="1213281"/>
            <a:ext cx="8016935" cy="527349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descr="A certificate with text on it&#10;&#10;AI-generated content may be incorrect.">
            <a:extLst>
              <a:ext uri="{FF2B5EF4-FFF2-40B4-BE49-F238E27FC236}">
                <a16:creationId xmlns:a16="http://schemas.microsoft.com/office/drawing/2014/main" id="{1056A66C-A361-6045-34E5-0F5ED3F41750}"/>
              </a:ext>
            </a:extLst>
          </p:cNvPr>
          <p:cNvPicPr>
            <a:picLocks noChangeAspect="1"/>
          </p:cNvPicPr>
          <p:nvPr/>
        </p:nvPicPr>
        <p:blipFill>
          <a:blip r:embed="rId3"/>
          <a:stretch>
            <a:fillRect/>
          </a:stretch>
        </p:blipFill>
        <p:spPr>
          <a:xfrm>
            <a:off x="1686006" y="1712637"/>
            <a:ext cx="8497036" cy="462574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1383</Words>
  <Application>Microsoft Office PowerPoint</Application>
  <PresentationFormat>Widescreen</PresentationFormat>
  <Paragraphs>125</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anu32712@gmail.com</cp:lastModifiedBy>
  <cp:revision>3</cp:revision>
  <dcterms:created xsi:type="dcterms:W3CDTF">2025-07-08T05:06:56Z</dcterms:created>
  <dcterms:modified xsi:type="dcterms:W3CDTF">2026-09-10T11:03:40Z</dcterms:modified>
</cp:coreProperties>
</file>